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6858000" cy="3840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6621"/>
    <a:srgbClr val="FCC50E"/>
    <a:srgbClr val="0EA18A"/>
    <a:srgbClr val="69A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574"/>
    <p:restoredTop sz="94658"/>
  </p:normalViewPr>
  <p:slideViewPr>
    <p:cSldViewPr snapToGrid="0">
      <p:cViewPr>
        <p:scale>
          <a:sx n="100" d="100"/>
          <a:sy n="100" d="100"/>
        </p:scale>
        <p:origin x="3768" y="1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628471"/>
            <a:ext cx="5143500" cy="1336946"/>
          </a:xfrm>
        </p:spPr>
        <p:txBody>
          <a:bodyPr anchor="b"/>
          <a:lstStyle>
            <a:lvl1pPr algn="ctr"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016975"/>
            <a:ext cx="5143500" cy="927150"/>
          </a:xfrm>
        </p:spPr>
        <p:txBody>
          <a:bodyPr/>
          <a:lstStyle>
            <a:lvl1pPr marL="0" indent="0" algn="ctr">
              <a:buNone/>
              <a:defRPr sz="1344"/>
            </a:lvl1pPr>
            <a:lvl2pPr marL="256032" indent="0" algn="ctr">
              <a:buNone/>
              <a:defRPr sz="1120"/>
            </a:lvl2pPr>
            <a:lvl3pPr marL="512064" indent="0" algn="ctr">
              <a:buNone/>
              <a:defRPr sz="1008"/>
            </a:lvl3pPr>
            <a:lvl4pPr marL="768096" indent="0" algn="ctr">
              <a:buNone/>
              <a:defRPr sz="896"/>
            </a:lvl4pPr>
            <a:lvl5pPr marL="1024128" indent="0" algn="ctr">
              <a:buNone/>
              <a:defRPr sz="896"/>
            </a:lvl5pPr>
            <a:lvl6pPr marL="1280160" indent="0" algn="ctr">
              <a:buNone/>
              <a:defRPr sz="896"/>
            </a:lvl6pPr>
            <a:lvl7pPr marL="1536192" indent="0" algn="ctr">
              <a:buNone/>
              <a:defRPr sz="896"/>
            </a:lvl7pPr>
            <a:lvl8pPr marL="1792224" indent="0" algn="ctr">
              <a:buNone/>
              <a:defRPr sz="896"/>
            </a:lvl8pPr>
            <a:lvl9pPr marL="2048256" indent="0" algn="ctr">
              <a:buNone/>
              <a:defRPr sz="8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FB55-0F37-C24D-83B7-6654515E125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1FF5-3726-074D-9A9E-2F556979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8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FB55-0F37-C24D-83B7-6654515E125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1FF5-3726-074D-9A9E-2F556979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05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957374"/>
            <a:ext cx="5915025" cy="1597401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2569888"/>
            <a:ext cx="5915025" cy="840035"/>
          </a:xfrm>
        </p:spPr>
        <p:txBody>
          <a:bodyPr/>
          <a:lstStyle>
            <a:lvl1pPr marL="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1pPr>
            <a:lvl2pPr marL="256032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2pPr>
            <a:lvl3pPr marL="512064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3pPr>
            <a:lvl4pPr marL="768096" indent="0">
              <a:buNone/>
              <a:defRPr sz="896">
                <a:solidFill>
                  <a:schemeClr val="tx1">
                    <a:tint val="82000"/>
                  </a:schemeClr>
                </a:solidFill>
              </a:defRPr>
            </a:lvl4pPr>
            <a:lvl5pPr marL="1024128" indent="0">
              <a:buNone/>
              <a:defRPr sz="896">
                <a:solidFill>
                  <a:schemeClr val="tx1">
                    <a:tint val="82000"/>
                  </a:schemeClr>
                </a:solidFill>
              </a:defRPr>
            </a:lvl5pPr>
            <a:lvl6pPr marL="1280160" indent="0">
              <a:buNone/>
              <a:defRPr sz="896">
                <a:solidFill>
                  <a:schemeClr val="tx1">
                    <a:tint val="82000"/>
                  </a:schemeClr>
                </a:solidFill>
              </a:defRPr>
            </a:lvl6pPr>
            <a:lvl7pPr marL="1536192" indent="0">
              <a:buNone/>
              <a:defRPr sz="896">
                <a:solidFill>
                  <a:schemeClr val="tx1">
                    <a:tint val="82000"/>
                  </a:schemeClr>
                </a:solidFill>
              </a:defRPr>
            </a:lvl7pPr>
            <a:lvl8pPr marL="1792224" indent="0">
              <a:buNone/>
              <a:defRPr sz="896">
                <a:solidFill>
                  <a:schemeClr val="tx1">
                    <a:tint val="82000"/>
                  </a:schemeClr>
                </a:solidFill>
              </a:defRPr>
            </a:lvl8pPr>
            <a:lvl9pPr marL="2048256" indent="0">
              <a:buNone/>
              <a:defRPr sz="8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FB55-0F37-C24D-83B7-6654515E125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1FF5-3726-074D-9A9E-2F556979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486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022266"/>
            <a:ext cx="2914650" cy="24365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022266"/>
            <a:ext cx="2914650" cy="24365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FB55-0F37-C24D-83B7-6654515E125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1FF5-3726-074D-9A9E-2F556979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48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04453"/>
            <a:ext cx="5915025" cy="7422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941373"/>
            <a:ext cx="2901255" cy="461353"/>
          </a:xfrm>
        </p:spPr>
        <p:txBody>
          <a:bodyPr anchor="b"/>
          <a:lstStyle>
            <a:lvl1pPr marL="0" indent="0">
              <a:buNone/>
              <a:defRPr sz="1344" b="1"/>
            </a:lvl1pPr>
            <a:lvl2pPr marL="256032" indent="0">
              <a:buNone/>
              <a:defRPr sz="1120" b="1"/>
            </a:lvl2pPr>
            <a:lvl3pPr marL="512064" indent="0">
              <a:buNone/>
              <a:defRPr sz="1008" b="1"/>
            </a:lvl3pPr>
            <a:lvl4pPr marL="768096" indent="0">
              <a:buNone/>
              <a:defRPr sz="896" b="1"/>
            </a:lvl4pPr>
            <a:lvl5pPr marL="1024128" indent="0">
              <a:buNone/>
              <a:defRPr sz="896" b="1"/>
            </a:lvl5pPr>
            <a:lvl6pPr marL="1280160" indent="0">
              <a:buNone/>
              <a:defRPr sz="896" b="1"/>
            </a:lvl6pPr>
            <a:lvl7pPr marL="1536192" indent="0">
              <a:buNone/>
              <a:defRPr sz="896" b="1"/>
            </a:lvl7pPr>
            <a:lvl8pPr marL="1792224" indent="0">
              <a:buNone/>
              <a:defRPr sz="896" b="1"/>
            </a:lvl8pPr>
            <a:lvl9pPr marL="2048256" indent="0">
              <a:buNone/>
              <a:defRPr sz="8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402726"/>
            <a:ext cx="2901255" cy="2063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941373"/>
            <a:ext cx="2915543" cy="461353"/>
          </a:xfrm>
        </p:spPr>
        <p:txBody>
          <a:bodyPr anchor="b"/>
          <a:lstStyle>
            <a:lvl1pPr marL="0" indent="0">
              <a:buNone/>
              <a:defRPr sz="1344" b="1"/>
            </a:lvl1pPr>
            <a:lvl2pPr marL="256032" indent="0">
              <a:buNone/>
              <a:defRPr sz="1120" b="1"/>
            </a:lvl2pPr>
            <a:lvl3pPr marL="512064" indent="0">
              <a:buNone/>
              <a:defRPr sz="1008" b="1"/>
            </a:lvl3pPr>
            <a:lvl4pPr marL="768096" indent="0">
              <a:buNone/>
              <a:defRPr sz="896" b="1"/>
            </a:lvl4pPr>
            <a:lvl5pPr marL="1024128" indent="0">
              <a:buNone/>
              <a:defRPr sz="896" b="1"/>
            </a:lvl5pPr>
            <a:lvl6pPr marL="1280160" indent="0">
              <a:buNone/>
              <a:defRPr sz="896" b="1"/>
            </a:lvl6pPr>
            <a:lvl7pPr marL="1536192" indent="0">
              <a:buNone/>
              <a:defRPr sz="896" b="1"/>
            </a:lvl7pPr>
            <a:lvl8pPr marL="1792224" indent="0">
              <a:buNone/>
              <a:defRPr sz="896" b="1"/>
            </a:lvl8pPr>
            <a:lvl9pPr marL="2048256" indent="0">
              <a:buNone/>
              <a:defRPr sz="8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402726"/>
            <a:ext cx="2915543" cy="2063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FB55-0F37-C24D-83B7-6654515E125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1FF5-3726-074D-9A9E-2F556979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26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FB55-0F37-C24D-83B7-6654515E125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1FF5-3726-074D-9A9E-2F556979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2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FB55-0F37-C24D-83B7-6654515E125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1FF5-3726-074D-9A9E-2F556979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27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56011"/>
            <a:ext cx="2211883" cy="896038"/>
          </a:xfrm>
        </p:spPr>
        <p:txBody>
          <a:bodyPr anchor="b"/>
          <a:lstStyle>
            <a:lvl1pPr>
              <a:defRPr sz="17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552913"/>
            <a:ext cx="3471863" cy="2729005"/>
          </a:xfrm>
        </p:spPr>
        <p:txBody>
          <a:bodyPr/>
          <a:lstStyle>
            <a:lvl1pPr>
              <a:defRPr sz="1792"/>
            </a:lvl1pPr>
            <a:lvl2pPr>
              <a:defRPr sz="1568"/>
            </a:lvl2pPr>
            <a:lvl3pPr>
              <a:defRPr sz="1344"/>
            </a:lvl3pPr>
            <a:lvl4pPr>
              <a:defRPr sz="1120"/>
            </a:lvl4pPr>
            <a:lvl5pPr>
              <a:defRPr sz="1120"/>
            </a:lvl5pPr>
            <a:lvl6pPr>
              <a:defRPr sz="1120"/>
            </a:lvl6pPr>
            <a:lvl7pPr>
              <a:defRPr sz="1120"/>
            </a:lvl7pPr>
            <a:lvl8pPr>
              <a:defRPr sz="1120"/>
            </a:lvl8pPr>
            <a:lvl9pPr>
              <a:defRPr sz="11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152049"/>
            <a:ext cx="2211883" cy="2134313"/>
          </a:xfrm>
        </p:spPr>
        <p:txBody>
          <a:bodyPr/>
          <a:lstStyle>
            <a:lvl1pPr marL="0" indent="0">
              <a:buNone/>
              <a:defRPr sz="896"/>
            </a:lvl1pPr>
            <a:lvl2pPr marL="256032" indent="0">
              <a:buNone/>
              <a:defRPr sz="784"/>
            </a:lvl2pPr>
            <a:lvl3pPr marL="512064" indent="0">
              <a:buNone/>
              <a:defRPr sz="672"/>
            </a:lvl3pPr>
            <a:lvl4pPr marL="768096" indent="0">
              <a:buNone/>
              <a:defRPr sz="560"/>
            </a:lvl4pPr>
            <a:lvl5pPr marL="1024128" indent="0">
              <a:buNone/>
              <a:defRPr sz="560"/>
            </a:lvl5pPr>
            <a:lvl6pPr marL="1280160" indent="0">
              <a:buNone/>
              <a:defRPr sz="560"/>
            </a:lvl6pPr>
            <a:lvl7pPr marL="1536192" indent="0">
              <a:buNone/>
              <a:defRPr sz="560"/>
            </a:lvl7pPr>
            <a:lvl8pPr marL="1792224" indent="0">
              <a:buNone/>
              <a:defRPr sz="560"/>
            </a:lvl8pPr>
            <a:lvl9pPr marL="2048256" indent="0">
              <a:buNone/>
              <a:defRPr sz="5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FB55-0F37-C24D-83B7-6654515E125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1FF5-3726-074D-9A9E-2F556979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403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56011"/>
            <a:ext cx="2211883" cy="896038"/>
          </a:xfrm>
        </p:spPr>
        <p:txBody>
          <a:bodyPr anchor="b"/>
          <a:lstStyle>
            <a:lvl1pPr>
              <a:defRPr sz="17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552913"/>
            <a:ext cx="3471863" cy="2729005"/>
          </a:xfrm>
        </p:spPr>
        <p:txBody>
          <a:bodyPr anchor="t"/>
          <a:lstStyle>
            <a:lvl1pPr marL="0" indent="0">
              <a:buNone/>
              <a:defRPr sz="1792"/>
            </a:lvl1pPr>
            <a:lvl2pPr marL="256032" indent="0">
              <a:buNone/>
              <a:defRPr sz="1568"/>
            </a:lvl2pPr>
            <a:lvl3pPr marL="512064" indent="0">
              <a:buNone/>
              <a:defRPr sz="1344"/>
            </a:lvl3pPr>
            <a:lvl4pPr marL="768096" indent="0">
              <a:buNone/>
              <a:defRPr sz="1120"/>
            </a:lvl4pPr>
            <a:lvl5pPr marL="1024128" indent="0">
              <a:buNone/>
              <a:defRPr sz="1120"/>
            </a:lvl5pPr>
            <a:lvl6pPr marL="1280160" indent="0">
              <a:buNone/>
              <a:defRPr sz="1120"/>
            </a:lvl6pPr>
            <a:lvl7pPr marL="1536192" indent="0">
              <a:buNone/>
              <a:defRPr sz="1120"/>
            </a:lvl7pPr>
            <a:lvl8pPr marL="1792224" indent="0">
              <a:buNone/>
              <a:defRPr sz="1120"/>
            </a:lvl8pPr>
            <a:lvl9pPr marL="2048256" indent="0">
              <a:buNone/>
              <a:defRPr sz="11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152049"/>
            <a:ext cx="2211883" cy="2134313"/>
          </a:xfrm>
        </p:spPr>
        <p:txBody>
          <a:bodyPr/>
          <a:lstStyle>
            <a:lvl1pPr marL="0" indent="0">
              <a:buNone/>
              <a:defRPr sz="896"/>
            </a:lvl1pPr>
            <a:lvl2pPr marL="256032" indent="0">
              <a:buNone/>
              <a:defRPr sz="784"/>
            </a:lvl2pPr>
            <a:lvl3pPr marL="512064" indent="0">
              <a:buNone/>
              <a:defRPr sz="672"/>
            </a:lvl3pPr>
            <a:lvl4pPr marL="768096" indent="0">
              <a:buNone/>
              <a:defRPr sz="560"/>
            </a:lvl4pPr>
            <a:lvl5pPr marL="1024128" indent="0">
              <a:buNone/>
              <a:defRPr sz="560"/>
            </a:lvl5pPr>
            <a:lvl6pPr marL="1280160" indent="0">
              <a:buNone/>
              <a:defRPr sz="560"/>
            </a:lvl6pPr>
            <a:lvl7pPr marL="1536192" indent="0">
              <a:buNone/>
              <a:defRPr sz="560"/>
            </a:lvl7pPr>
            <a:lvl8pPr marL="1792224" indent="0">
              <a:buNone/>
              <a:defRPr sz="560"/>
            </a:lvl8pPr>
            <a:lvl9pPr marL="2048256" indent="0">
              <a:buNone/>
              <a:defRPr sz="5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FB55-0F37-C24D-83B7-6654515E125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1FF5-3726-074D-9A9E-2F556979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9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FB55-0F37-C24D-83B7-6654515E125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1FF5-3726-074D-9A9E-2F556979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66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6" y="204453"/>
            <a:ext cx="1478756" cy="32543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7" y="204453"/>
            <a:ext cx="4350544" cy="32543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FB55-0F37-C24D-83B7-6654515E125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1FF5-3726-074D-9A9E-2F556979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32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04453"/>
            <a:ext cx="5915025" cy="742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022266"/>
            <a:ext cx="5915025" cy="2436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3559263"/>
            <a:ext cx="1543050" cy="204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BFB55-0F37-C24D-83B7-6654515E1253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3559263"/>
            <a:ext cx="2314575" cy="204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3559263"/>
            <a:ext cx="1543050" cy="204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D1FF5-3726-074D-9A9E-2F556979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5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12064" rtl="0" eaLnBrk="1" latinLnBrk="0" hangingPunct="1">
        <a:lnSpc>
          <a:spcPct val="90000"/>
        </a:lnSpc>
        <a:spcBef>
          <a:spcPct val="0"/>
        </a:spcBef>
        <a:buNone/>
        <a:defRPr sz="2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16" indent="-128016" algn="l" defTabSz="512064" rtl="0" eaLnBrk="1" latinLnBrk="0" hangingPunct="1">
        <a:lnSpc>
          <a:spcPct val="90000"/>
        </a:lnSpc>
        <a:spcBef>
          <a:spcPts val="560"/>
        </a:spcBef>
        <a:buFont typeface="Arial" panose="020B0604020202020204" pitchFamily="34" charset="0"/>
        <a:buChar char="•"/>
        <a:defRPr sz="1568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indent="-128016" algn="l" defTabSz="512064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28016" algn="l" defTabSz="512064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3pPr>
      <a:lvl4pPr marL="896112" indent="-128016" algn="l" defTabSz="512064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128016" algn="l" defTabSz="512064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5pPr>
      <a:lvl6pPr marL="1408176" indent="-128016" algn="l" defTabSz="512064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6pPr>
      <a:lvl7pPr marL="1664208" indent="-128016" algn="l" defTabSz="512064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28016" algn="l" defTabSz="512064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128016" algn="l" defTabSz="512064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064" rtl="0" eaLnBrk="1" latinLnBrk="0" hangingPunct="1"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" algn="l" defTabSz="512064" rtl="0" eaLnBrk="1" latinLnBrk="0" hangingPunct="1"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512064" algn="l" defTabSz="512064" rtl="0" eaLnBrk="1" latinLnBrk="0" hangingPunct="1">
        <a:defRPr sz="1008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" algn="l" defTabSz="512064" rtl="0" eaLnBrk="1" latinLnBrk="0" hangingPunct="1">
        <a:defRPr sz="1008" kern="1200">
          <a:solidFill>
            <a:schemeClr val="tx1"/>
          </a:solidFill>
          <a:latin typeface="+mn-lt"/>
          <a:ea typeface="+mn-ea"/>
          <a:cs typeface="+mn-cs"/>
        </a:defRPr>
      </a:lvl4pPr>
      <a:lvl5pPr marL="1024128" algn="l" defTabSz="512064" rtl="0" eaLnBrk="1" latinLnBrk="0" hangingPunct="1">
        <a:defRPr sz="1008" kern="1200">
          <a:solidFill>
            <a:schemeClr val="tx1"/>
          </a:solidFill>
          <a:latin typeface="+mn-lt"/>
          <a:ea typeface="+mn-ea"/>
          <a:cs typeface="+mn-cs"/>
        </a:defRPr>
      </a:lvl5pPr>
      <a:lvl6pPr marL="1280160" algn="l" defTabSz="512064" rtl="0" eaLnBrk="1" latinLnBrk="0" hangingPunct="1">
        <a:defRPr sz="1008" kern="1200">
          <a:solidFill>
            <a:schemeClr val="tx1"/>
          </a:solidFill>
          <a:latin typeface="+mn-lt"/>
          <a:ea typeface="+mn-ea"/>
          <a:cs typeface="+mn-cs"/>
        </a:defRPr>
      </a:lvl6pPr>
      <a:lvl7pPr marL="1536192" algn="l" defTabSz="512064" rtl="0" eaLnBrk="1" latinLnBrk="0" hangingPunct="1">
        <a:defRPr sz="1008" kern="1200">
          <a:solidFill>
            <a:schemeClr val="tx1"/>
          </a:solidFill>
          <a:latin typeface="+mn-lt"/>
          <a:ea typeface="+mn-ea"/>
          <a:cs typeface="+mn-cs"/>
        </a:defRPr>
      </a:lvl7pPr>
      <a:lvl8pPr marL="1792224" algn="l" defTabSz="512064" rtl="0" eaLnBrk="1" latinLnBrk="0" hangingPunct="1">
        <a:defRPr sz="1008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" algn="l" defTabSz="512064" rtl="0" eaLnBrk="1" latinLnBrk="0" hangingPunct="1">
        <a:defRPr sz="10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3F45DA1-5A70-5A1D-0435-10C2345687E4}"/>
              </a:ext>
            </a:extLst>
          </p:cNvPr>
          <p:cNvSpPr/>
          <p:nvPr/>
        </p:nvSpPr>
        <p:spPr>
          <a:xfrm>
            <a:off x="217133" y="48265"/>
            <a:ext cx="6220537" cy="3743632"/>
          </a:xfrm>
          <a:prstGeom prst="roundRect">
            <a:avLst>
              <a:gd name="adj" fmla="val 13112"/>
            </a:avLst>
          </a:prstGeom>
          <a:solidFill>
            <a:srgbClr val="69AED5">
              <a:alpha val="52157"/>
            </a:srgbClr>
          </a:solidFill>
          <a:ln>
            <a:solidFill>
              <a:srgbClr val="69AE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01A317-3EBE-CB1C-4D4E-7E80536ABA7C}"/>
              </a:ext>
            </a:extLst>
          </p:cNvPr>
          <p:cNvSpPr txBox="1"/>
          <p:nvPr/>
        </p:nvSpPr>
        <p:spPr>
          <a:xfrm>
            <a:off x="2140538" y="48264"/>
            <a:ext cx="2373727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90" dirty="0"/>
              <a:t>Database population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36DDC93-A741-F788-814F-59180D6C47D3}"/>
              </a:ext>
            </a:extLst>
          </p:cNvPr>
          <p:cNvSpPr/>
          <p:nvPr/>
        </p:nvSpPr>
        <p:spPr>
          <a:xfrm>
            <a:off x="1364819" y="443051"/>
            <a:ext cx="3925165" cy="2511843"/>
          </a:xfrm>
          <a:prstGeom prst="roundRect">
            <a:avLst/>
          </a:prstGeom>
          <a:solidFill>
            <a:srgbClr val="0EA18A">
              <a:alpha val="50196"/>
            </a:srgbClr>
          </a:solidFill>
          <a:ln>
            <a:solidFill>
              <a:srgbClr val="0EA1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E4B1F4-7979-1830-E5B3-DF81847A3141}"/>
              </a:ext>
            </a:extLst>
          </p:cNvPr>
          <p:cNvSpPr txBox="1"/>
          <p:nvPr/>
        </p:nvSpPr>
        <p:spPr>
          <a:xfrm>
            <a:off x="2038807" y="443048"/>
            <a:ext cx="2577180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90" dirty="0"/>
              <a:t>Highly-sensitive cohort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D8F98F-7BF2-9FF7-7AD6-FCF66AD9B45D}"/>
              </a:ext>
            </a:extLst>
          </p:cNvPr>
          <p:cNvSpPr txBox="1"/>
          <p:nvPr/>
        </p:nvSpPr>
        <p:spPr>
          <a:xfrm>
            <a:off x="593789" y="3043932"/>
            <a:ext cx="5467220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90" dirty="0"/>
              <a:t>Nobody outside the highly-sensitive cohort is expected to have the disease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9F456FE-A4B1-2CB8-064B-D2AC042AC14E}"/>
              </a:ext>
            </a:extLst>
          </p:cNvPr>
          <p:cNvSpPr/>
          <p:nvPr/>
        </p:nvSpPr>
        <p:spPr>
          <a:xfrm>
            <a:off x="1884704" y="886327"/>
            <a:ext cx="2897618" cy="1398306"/>
          </a:xfrm>
          <a:prstGeom prst="roundRect">
            <a:avLst/>
          </a:prstGeom>
          <a:solidFill>
            <a:srgbClr val="FCC50E">
              <a:alpha val="49020"/>
            </a:srgbClr>
          </a:solidFill>
          <a:ln>
            <a:solidFill>
              <a:srgbClr val="FCC5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A154D6-E9EA-966D-2162-3C1D82F3C2B3}"/>
              </a:ext>
            </a:extLst>
          </p:cNvPr>
          <p:cNvSpPr txBox="1"/>
          <p:nvPr/>
        </p:nvSpPr>
        <p:spPr>
          <a:xfrm>
            <a:off x="1858347" y="886328"/>
            <a:ext cx="2938112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90" dirty="0"/>
              <a:t>Large sample (LLM review)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2EB0CE4-8C7F-6159-FFB4-2BFA99535843}"/>
              </a:ext>
            </a:extLst>
          </p:cNvPr>
          <p:cNvSpPr/>
          <p:nvPr/>
        </p:nvSpPr>
        <p:spPr>
          <a:xfrm>
            <a:off x="3194259" y="1268400"/>
            <a:ext cx="1505911" cy="891339"/>
          </a:xfrm>
          <a:prstGeom prst="roundRect">
            <a:avLst/>
          </a:prstGeom>
          <a:solidFill>
            <a:srgbClr val="EC6621">
              <a:alpha val="50196"/>
            </a:srgbClr>
          </a:solidFill>
          <a:ln>
            <a:solidFill>
              <a:srgbClr val="EC66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006F8F-D2B7-490D-8391-565D19DF2426}"/>
              </a:ext>
            </a:extLst>
          </p:cNvPr>
          <p:cNvSpPr txBox="1"/>
          <p:nvPr/>
        </p:nvSpPr>
        <p:spPr>
          <a:xfrm>
            <a:off x="3525461" y="1281112"/>
            <a:ext cx="843500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90" dirty="0"/>
              <a:t>Cases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59B763E-BD8D-3B6F-EC89-81AF5AE0A4FD}"/>
              </a:ext>
            </a:extLst>
          </p:cNvPr>
          <p:cNvSpPr/>
          <p:nvPr/>
        </p:nvSpPr>
        <p:spPr>
          <a:xfrm>
            <a:off x="2250219" y="1830410"/>
            <a:ext cx="1505911" cy="891339"/>
          </a:xfrm>
          <a:prstGeom prst="roundRect">
            <a:avLst/>
          </a:prstGeom>
          <a:solidFill>
            <a:schemeClr val="tx1">
              <a:lumMod val="50000"/>
              <a:lumOff val="50000"/>
              <a:alpha val="50196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9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CCC0ED-4462-03A0-0F41-3E54E11958AC}"/>
              </a:ext>
            </a:extLst>
          </p:cNvPr>
          <p:cNvSpPr txBox="1"/>
          <p:nvPr/>
        </p:nvSpPr>
        <p:spPr>
          <a:xfrm>
            <a:off x="2392048" y="1834421"/>
            <a:ext cx="1222258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90" dirty="0"/>
              <a:t>Cohort to </a:t>
            </a:r>
          </a:p>
          <a:p>
            <a:pPr algn="ctr"/>
            <a:r>
              <a:rPr lang="en-US" sz="1890" dirty="0"/>
              <a:t>evaluate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819A8A1-85D7-4D40-D4B6-E4D4B6566E03}"/>
              </a:ext>
            </a:extLst>
          </p:cNvPr>
          <p:cNvCxnSpPr>
            <a:cxnSpLocks/>
          </p:cNvCxnSpPr>
          <p:nvPr/>
        </p:nvCxnSpPr>
        <p:spPr>
          <a:xfrm flipH="1" flipV="1">
            <a:off x="3617882" y="2011462"/>
            <a:ext cx="1172102" cy="403917"/>
          </a:xfrm>
          <a:prstGeom prst="straightConnector1">
            <a:avLst/>
          </a:prstGeom>
          <a:ln w="127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DA1823F-CD13-3275-7232-FD8BF73323CD}"/>
              </a:ext>
            </a:extLst>
          </p:cNvPr>
          <p:cNvSpPr txBox="1"/>
          <p:nvPr/>
        </p:nvSpPr>
        <p:spPr>
          <a:xfrm>
            <a:off x="3617884" y="2329823"/>
            <a:ext cx="3259713" cy="38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90" dirty="0"/>
              <a:t>True positives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5EE2A07-0F3E-66F1-E9C3-1A1E1BE1B608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1818596" y="2171436"/>
            <a:ext cx="573453" cy="243942"/>
          </a:xfrm>
          <a:prstGeom prst="straightConnector1">
            <a:avLst/>
          </a:prstGeom>
          <a:ln w="127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BD97E51-7D22-C118-C81D-CCB6CF683C02}"/>
              </a:ext>
            </a:extLst>
          </p:cNvPr>
          <p:cNvSpPr txBox="1"/>
          <p:nvPr/>
        </p:nvSpPr>
        <p:spPr>
          <a:xfrm>
            <a:off x="-549169" y="2333981"/>
            <a:ext cx="3259713" cy="38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90" dirty="0"/>
              <a:t>False positives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5672D54-6895-F7DA-7516-1ABE3119C66B}"/>
              </a:ext>
            </a:extLst>
          </p:cNvPr>
          <p:cNvCxnSpPr>
            <a:cxnSpLocks/>
          </p:cNvCxnSpPr>
          <p:nvPr/>
        </p:nvCxnSpPr>
        <p:spPr>
          <a:xfrm>
            <a:off x="1214864" y="1018332"/>
            <a:ext cx="1165116" cy="492691"/>
          </a:xfrm>
          <a:prstGeom prst="straightConnector1">
            <a:avLst/>
          </a:prstGeom>
          <a:ln w="127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2CF8008-E0A5-CA78-494E-B1E19D28F16D}"/>
              </a:ext>
            </a:extLst>
          </p:cNvPr>
          <p:cNvSpPr txBox="1"/>
          <p:nvPr/>
        </p:nvSpPr>
        <p:spPr>
          <a:xfrm>
            <a:off x="-782169" y="664688"/>
            <a:ext cx="3259713" cy="38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90" dirty="0"/>
              <a:t>True negatives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8042FC9-FE2F-43C7-490F-27DCC5236544}"/>
              </a:ext>
            </a:extLst>
          </p:cNvPr>
          <p:cNvCxnSpPr>
            <a:cxnSpLocks/>
          </p:cNvCxnSpPr>
          <p:nvPr/>
        </p:nvCxnSpPr>
        <p:spPr>
          <a:xfrm flipH="1">
            <a:off x="4161191" y="1281112"/>
            <a:ext cx="1068985" cy="472562"/>
          </a:xfrm>
          <a:prstGeom prst="straightConnector1">
            <a:avLst/>
          </a:prstGeom>
          <a:ln w="127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E1E0FE0-967D-29F5-5E73-C340A65CD708}"/>
              </a:ext>
            </a:extLst>
          </p:cNvPr>
          <p:cNvSpPr txBox="1"/>
          <p:nvPr/>
        </p:nvSpPr>
        <p:spPr>
          <a:xfrm>
            <a:off x="4374867" y="948567"/>
            <a:ext cx="3259713" cy="38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90" dirty="0"/>
              <a:t>False negatives</a:t>
            </a:r>
          </a:p>
        </p:txBody>
      </p:sp>
    </p:spTree>
    <p:extLst>
      <p:ext uri="{BB962C8B-B14F-4D97-AF65-F5344CB8AC3E}">
        <p14:creationId xmlns:p14="http://schemas.microsoft.com/office/powerpoint/2010/main" val="3500102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33</Words>
  <Application>Microsoft Macintosh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Martijn Schuemie</dc:creator>
  <cp:lastModifiedBy>Martijn Schuemie</cp:lastModifiedBy>
  <cp:revision>4</cp:revision>
  <dcterms:created xsi:type="dcterms:W3CDTF">2026-03-26T04:59:46Z</dcterms:created>
  <dcterms:modified xsi:type="dcterms:W3CDTF">2026-03-26T05:21:20Z</dcterms:modified>
</cp:coreProperties>
</file>